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on the proof frame: this is a third-party app's own search field. Everything else in the deck exists to explain how this one frame is possible.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5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28555" y="621792"/>
            <a:ext cx="2712925" cy="5614416"/>
          </a:xfrm>
          <a:prstGeom prst="roundRect">
            <a:avLst>
              <a:gd name="adj" fmla="val 4045"/>
            </a:avLst>
          </a:prstGeom>
          <a:solidFill>
            <a:srgbClr val="F2F5FA"/>
          </a:solidFill>
          <a:ln w="9525">
            <a:solidFill>
              <a:srgbClr val="D7DEE9"/>
            </a:solidFill>
            <a:prstDash val="solid"/>
          </a:ln>
          <a:effectLst>
            <a:outerShdw sx="100000" sy="100000" kx="0" ky="0" algn="bl" rotWithShape="0" blurRad="101600" dist="38100" dir="2700000">
              <a:srgbClr val="1B2A44">
                <a:alpha val="22000"/>
              </a:srgbClr>
            </a:outerShdw>
          </a:effectLst>
        </p:spPr>
      </p:sp>
      <p:pic>
        <p:nvPicPr>
          <p:cNvPr id="3" name="Image 0" descr="/Users/rafal/Downloads/harmonyos/demo/public/stills/12-in-another-app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8283" y="731520"/>
            <a:ext cx="2493469" cy="5394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554480"/>
            <a:ext cx="83055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Bridge</a:t>
            </a:r>
            <a:endParaRPr lang="en-US" sz="7200" dirty="0"/>
          </a:p>
        </p:txBody>
      </p:sp>
      <p:sp>
        <p:nvSpPr>
          <p:cNvPr id="5" name="Text 2"/>
          <p:cNvSpPr/>
          <p:nvPr/>
        </p:nvSpPr>
        <p:spPr>
          <a:xfrm>
            <a:off x="457200" y="3063240"/>
            <a:ext cx="83055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9DB0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system keyboard that gives people a voice — in every text field on the device.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457200" y="5394960"/>
            <a:ext cx="83055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HackYeah 2026 · OpenHarmony / HarmonyOS · IME Kit + AI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7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Typing assumes you can type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96596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B4E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12.2M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57200" y="297180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7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strokes a year worldwide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36576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279392" y="196596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B4E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 in 3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4279392" y="297180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7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stroke survivors live with aphasia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279392" y="36576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Aphasia Association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01584" y="196596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B4E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5–10%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8101584" y="297180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7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people live with dyslexia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101584" y="36576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European Dyslexia Association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480560"/>
            <a:ext cx="11274552" cy="1417320"/>
          </a:xfrm>
          <a:prstGeom prst="roundRect">
            <a:avLst>
              <a:gd name="adj" fmla="val 5161"/>
            </a:avLst>
          </a:prstGeom>
          <a:solidFill>
            <a:srgbClr val="EEF3FB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617720"/>
            <a:ext cx="107259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the assistive answer is an island. </a:t>
            </a:r>
            <a:pPr indent="0" marL="0">
              <a:buNone/>
            </a:pPr>
            <a:r>
              <a:rPr lang="en-US" sz="1700" dirty="0">
                <a:solidFill>
                  <a:srgbClr val="17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'communicator' apps compose a sentence — but that sentence cannot be sent in a messenger, an e-mail or a banking app. Nobody ships typing help as a system capability, because on closed platforms the input layer is not extensible.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57200" y="61722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Since 28 June 2025 the European Accessibility Act makes accessible digital products a legal requirement in the EU — this is compliance, not charity.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IDEA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7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another app — an input method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Bridge replaces the keyboard itself, so it appears in every text field on the device. No SDK, no per-app integration, nothing for the app to support.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3200400"/>
            <a:ext cx="3017520" cy="1737360"/>
          </a:xfrm>
          <a:prstGeom prst="roundRect">
            <a:avLst>
              <a:gd name="adj" fmla="val 5263"/>
            </a:avLst>
          </a:prstGeom>
          <a:solidFill>
            <a:srgbClr val="F2F5FA"/>
          </a:solidFill>
          <a:ln w="12700">
            <a:solidFill>
              <a:srgbClr val="D7DEE9"/>
            </a:solidFill>
            <a:prstDash val="solid"/>
          </a:ln>
          <a:effectLst>
            <a:outerShdw sx="100000" sy="100000" kx="0" ky="0" algn="bl" rotWithShape="0" blurRad="101600" dist="38100" dir="2700000">
              <a:srgbClr val="1B2A44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33832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app's text field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397764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messenger, mail, browser — an app that knows nothing about Bridge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0" y="3200400"/>
            <a:ext cx="3017520" cy="1737360"/>
          </a:xfrm>
          <a:prstGeom prst="roundRect">
            <a:avLst>
              <a:gd name="adj" fmla="val 5263"/>
            </a:avLst>
          </a:prstGeom>
          <a:solidFill>
            <a:srgbClr val="1B4E8F"/>
          </a:solidFill>
          <a:ln w="12700">
            <a:solidFill>
              <a:srgbClr val="1B4E8F"/>
            </a:solidFill>
            <a:prstDash val="solid"/>
          </a:ln>
          <a:effectLst>
            <a:outerShdw sx="100000" sy="100000" kx="0" ky="0" algn="bl" rotWithShape="0" blurRad="101600" dist="38100" dir="2700000">
              <a:srgbClr val="1B2A44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0" y="33832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Bridge, the keyboard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754880" y="397764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E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InputMethodExtensionAbility — reads and rewrites the editor proxy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503920" y="3200400"/>
            <a:ext cx="3017520" cy="1737360"/>
          </a:xfrm>
          <a:prstGeom prst="roundRect">
            <a:avLst>
              <a:gd name="adj" fmla="val 5263"/>
            </a:avLst>
          </a:prstGeom>
          <a:solidFill>
            <a:srgbClr val="F2F5FA"/>
          </a:solidFill>
          <a:ln w="12700">
            <a:solidFill>
              <a:srgbClr val="D7DEE9"/>
            </a:solidFill>
            <a:prstDash val="solid"/>
          </a:ln>
          <a:effectLst>
            <a:outerShdw sx="100000" sy="100000" kx="0" ky="0" algn="bl" rotWithShape="0" blurRad="101600" dist="38100" dir="2700000">
              <a:srgbClr val="1B2A44">
                <a:alpha val="2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686800" y="33832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686800" y="397764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OpenAI-compatible endpoint; the key never leaves the device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91840" y="25603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and rewrites the field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703320" y="3108960"/>
            <a:ext cx="868680" cy="0"/>
          </a:xfrm>
          <a:prstGeom prst="line">
            <a:avLst/>
          </a:prstGeom>
          <a:noFill/>
          <a:ln w="31750">
            <a:solidFill>
              <a:srgbClr val="1A73E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703320" y="5029200"/>
            <a:ext cx="868680" cy="0"/>
          </a:xfrm>
          <a:prstGeom prst="line">
            <a:avLst/>
          </a:prstGeom>
          <a:noFill/>
          <a:ln w="31750">
            <a:solidFill>
              <a:srgbClr val="1A73E8"/>
            </a:solidFill>
            <a:prstDash val="solid"/>
            <a:headEnd type="triangle"/>
          </a:ln>
        </p:spPr>
      </p:sp>
      <p:sp>
        <p:nvSpPr>
          <p:cNvPr id="17" name="Text 15"/>
          <p:cNvSpPr/>
          <p:nvPr/>
        </p:nvSpPr>
        <p:spPr>
          <a:xfrm>
            <a:off x="3291840" y="51389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applies the chosen one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635240" y="3108960"/>
            <a:ext cx="868680" cy="0"/>
          </a:xfrm>
          <a:prstGeom prst="line">
            <a:avLst/>
          </a:prstGeom>
          <a:noFill/>
          <a:ln w="31750">
            <a:solidFill>
              <a:srgbClr val="1A73E8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635240" y="5029200"/>
            <a:ext cx="868680" cy="0"/>
          </a:xfrm>
          <a:prstGeom prst="line">
            <a:avLst/>
          </a:prstGeom>
          <a:noFill/>
          <a:ln w="31750">
            <a:solidFill>
              <a:srgbClr val="1A73E8"/>
            </a:solidFill>
            <a:prstDash val="solid"/>
            <a:headEnd type="triangle"/>
          </a:ln>
        </p:spPr>
      </p:sp>
      <p:sp>
        <p:nvSpPr>
          <p:cNvPr id="20" name="Text 18"/>
          <p:cNvSpPr/>
          <p:nvPr/>
        </p:nvSpPr>
        <p:spPr>
          <a:xfrm>
            <a:off x="7269480" y="248716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scrubbed request —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PII stays on the device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269480" y="51389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variants restored locally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598932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E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platform capability, taken end to end — rather than five shallow integrations.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28555" y="621792"/>
            <a:ext cx="2712925" cy="5614416"/>
          </a:xfrm>
          <a:prstGeom prst="roundRect">
            <a:avLst>
              <a:gd name="adj" fmla="val 4045"/>
            </a:avLst>
          </a:prstGeom>
          <a:solidFill>
            <a:srgbClr val="F2F5FA"/>
          </a:solidFill>
          <a:ln w="9525">
            <a:solidFill>
              <a:srgbClr val="D7DEE9"/>
            </a:solidFill>
            <a:prstDash val="solid"/>
          </a:ln>
          <a:effectLst>
            <a:outerShdw sx="100000" sy="100000" kx="0" ky="0" algn="bl" rotWithShape="0" blurRad="101600" dist="38100" dir="2700000">
              <a:srgbClr val="1B2A44">
                <a:alpha val="22000"/>
              </a:srgbClr>
            </a:outerShdw>
          </a:effectLst>
        </p:spPr>
      </p:sp>
      <p:pic>
        <p:nvPicPr>
          <p:cNvPr id="3" name="Image 0" descr="/Users/rafal/Downloads/harmonyos/demo/public/stills/05-rewrite-variants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8283" y="731520"/>
            <a:ext cx="2493469" cy="5394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 1 · REWRITE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457200" y="868680"/>
            <a:ext cx="83055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7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however you can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457200" y="1965960"/>
            <a:ext cx="83055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1B4E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 chciec jutro przyjsc na spotkanie o 10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457200" y="2468880"/>
            <a:ext cx="83055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Broken Polish, no diacritics — typed into another app's field. Tap Correct: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3017520"/>
            <a:ext cx="8305595" cy="731520"/>
          </a:xfrm>
          <a:prstGeom prst="roundRect">
            <a:avLst>
              <a:gd name="adj" fmla="val 10000"/>
            </a:avLst>
          </a:prstGeom>
          <a:solidFill>
            <a:srgbClr val="EEF3FB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" y="30906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MINIMAL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85800" y="3346704"/>
            <a:ext cx="78483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7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 chcę przyjść jutro na spotkanie o 10.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57200" y="3886200"/>
            <a:ext cx="8305595" cy="731520"/>
          </a:xfrm>
          <a:prstGeom prst="roundRect">
            <a:avLst>
              <a:gd name="adj" fmla="val 10000"/>
            </a:avLst>
          </a:prstGeom>
          <a:solidFill>
            <a:srgbClr val="EEF3FB"/>
          </a:solidFill>
          <a:ln/>
        </p:spPr>
      </p:sp>
      <p:sp>
        <p:nvSpPr>
          <p:cNvPr id="12" name="Text 9"/>
          <p:cNvSpPr/>
          <p:nvPr/>
        </p:nvSpPr>
        <p:spPr>
          <a:xfrm>
            <a:off x="685800" y="39593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85800" y="4215384"/>
            <a:ext cx="78483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7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Jutro chcę przyjść na spotkanie o 10.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57200" y="4754880"/>
            <a:ext cx="8305595" cy="731520"/>
          </a:xfrm>
          <a:prstGeom prst="roundRect">
            <a:avLst>
              <a:gd name="adj" fmla="val 10000"/>
            </a:avLst>
          </a:prstGeom>
          <a:solidFill>
            <a:srgbClr val="EEF3FB"/>
          </a:solidFill>
          <a:ln/>
        </p:spPr>
      </p:sp>
      <p:sp>
        <p:nvSpPr>
          <p:cNvPr id="15" name="Text 12"/>
          <p:cNvSpPr/>
          <p:nvPr/>
        </p:nvSpPr>
        <p:spPr>
          <a:xfrm>
            <a:off x="685800" y="4828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STYLISH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85800" y="5084064"/>
            <a:ext cx="78483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7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Jutro przyjdę na spotkanie o 10.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57200" y="5806440"/>
            <a:ext cx="83055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E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 s</a:t>
            </a:r>
            <a:pPr indent="0" marL="0">
              <a:buNone/>
            </a:pPr>
            <a:r>
              <a:rPr lang="en-US" sz="1400" dirty="0">
                <a:solidFill>
                  <a:srgbClr val="17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observed · tap one and the field contains the corrected sentence — </a:t>
            </a:r>
            <a:pPr indent="0" marL="0">
              <a:buNone/>
            </a:pPr>
            <a:r>
              <a:rPr lang="en-US" sz="1400" b="1" dirty="0">
                <a:solidFill>
                  <a:srgbClr val="1B4E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replaced 41 characters</a:t>
            </a:r>
            <a:pPr indent="0" marL="0">
              <a:buNone/>
            </a:pPr>
            <a:r>
              <a:rPr lang="en-US" sz="1400" dirty="0">
                <a:solidFill>
                  <a:srgbClr val="17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the cursor API used the right way round.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28555" y="621792"/>
            <a:ext cx="2712925" cy="5614416"/>
          </a:xfrm>
          <a:prstGeom prst="roundRect">
            <a:avLst>
              <a:gd name="adj" fmla="val 4045"/>
            </a:avLst>
          </a:prstGeom>
          <a:solidFill>
            <a:srgbClr val="F2F5FA"/>
          </a:solidFill>
          <a:ln w="9525">
            <a:solidFill>
              <a:srgbClr val="D7DEE9"/>
            </a:solidFill>
            <a:prstDash val="solid"/>
          </a:ln>
          <a:effectLst>
            <a:outerShdw sx="100000" sy="100000" kx="0" ky="0" algn="bl" rotWithShape="0" blurRad="101600" dist="38100" dir="2700000">
              <a:srgbClr val="1B2A44">
                <a:alpha val="22000"/>
              </a:srgbClr>
            </a:outerShdw>
          </a:effectLst>
        </p:spPr>
      </p:sp>
      <p:pic>
        <p:nvPicPr>
          <p:cNvPr id="3" name="Image 0" descr="/Users/rafal/Downloads/harmonyos/demo/public/stills/08-compose-variants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8283" y="731520"/>
            <a:ext cx="2493469" cy="5394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 2 · COMPOSE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457200" y="868680"/>
            <a:ext cx="83055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7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typing at all is also writing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457200" y="1965960"/>
            <a:ext cx="83055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7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non-speaking user picks concepts instead of words: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457200" y="2514600"/>
            <a:ext cx="83055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4E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jeść   +   później   +   rodzina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457200" y="3337560"/>
            <a:ext cx="8305595" cy="1371600"/>
          </a:xfrm>
          <a:prstGeom prst="roundRect">
            <a:avLst>
              <a:gd name="adj" fmla="val 5333"/>
            </a:avLst>
          </a:prstGeom>
          <a:solidFill>
            <a:srgbClr val="EEF3FB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3520440"/>
            <a:ext cx="77569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Zjem później z rodziną.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731520" y="4160520"/>
            <a:ext cx="77569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 will eat later with my family.” — correct Polish aspect and case, composed by the model from the picked concepts.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5029200"/>
            <a:ext cx="83055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E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was typed. </a:t>
            </a:r>
            <a:pPr indent="0" marL="0">
              <a:buNone/>
            </a:pPr>
            <a:r>
              <a:rPr lang="en-US" sz="1500" dirty="0">
                <a:solidFill>
                  <a:srgbClr val="17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 user with severe motor impairment or aphasia, three taps produce a grammatical sentence — inside another application's field. The European Accessibility Act makes that a compliance question, not a favour.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28555" y="621792"/>
            <a:ext cx="2712925" cy="5614416"/>
          </a:xfrm>
          <a:prstGeom prst="roundRect">
            <a:avLst>
              <a:gd name="adj" fmla="val 4045"/>
            </a:avLst>
          </a:prstGeom>
          <a:solidFill>
            <a:srgbClr val="F2F5FA"/>
          </a:solidFill>
          <a:ln w="9525">
            <a:solidFill>
              <a:srgbClr val="D7DEE9"/>
            </a:solidFill>
            <a:prstDash val="solid"/>
          </a:ln>
          <a:effectLst>
            <a:outerShdw sx="100000" sy="100000" kx="0" ky="0" algn="bl" rotWithShape="0" blurRad="101600" dist="38100" dir="2700000">
              <a:srgbClr val="1B2A44">
                <a:alpha val="22000"/>
              </a:srgbClr>
            </a:outerShdw>
          </a:effectLst>
        </p:spPr>
      </p:sp>
      <p:pic>
        <p:nvPicPr>
          <p:cNvPr id="3" name="Image 0" descr="/Users/rafal/Downloads/harmonyos/demo/public/stills/10-pii-hidden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8283" y="731520"/>
            <a:ext cx="2493469" cy="5394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457200" y="868680"/>
            <a:ext cx="83055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7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privacy event, handled as a feature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457200" y="2057400"/>
            <a:ext cx="384048" cy="384048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2039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051560" y="2011680"/>
            <a:ext cx="77112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Scrubbed on the device, before any request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051560" y="2395728"/>
            <a:ext cx="77112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E-mails, phone numbers, PESEL, IBAN and card-like digit runs become placeholders. The model never receives the real values.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3108960"/>
            <a:ext cx="384048" cy="384048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3090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1051560" y="3063240"/>
            <a:ext cx="77112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Said in the user's own terms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1051560" y="3447288"/>
            <a:ext cx="77112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status line reads “2 personal items stayed on this device” — the variants get the values back from the placeholders.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57200" y="4160520"/>
            <a:ext cx="384048" cy="384048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15" name="Text 12"/>
          <p:cNvSpPr/>
          <p:nvPr/>
        </p:nvSpPr>
        <p:spPr>
          <a:xfrm>
            <a:off x="457200" y="4142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1051560" y="4114800"/>
            <a:ext cx="77112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is a labelled result, never silence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1051560" y="4498848"/>
            <a:ext cx="77112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Unreachable model or offline-only switch: a local rule engine answers, and the keyboard says exactly that.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457200" y="5212080"/>
            <a:ext cx="384048" cy="384048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19" name="Text 16"/>
          <p:cNvSpPr/>
          <p:nvPr/>
        </p:nvSpPr>
        <p:spPr>
          <a:xfrm>
            <a:off x="457200" y="5193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1051560" y="5166360"/>
            <a:ext cx="77112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key never enters the repository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1051560" y="5550408"/>
            <a:ext cx="77112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Typed once into the app's settings, stored in device preferences.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7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on the device, not mocked up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993392"/>
            <a:ext cx="384048" cy="384048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975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51560" y="1965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 engine tests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51560" y="23317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platform-agnostic core, strict TypeScript, runs on plain Node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926080"/>
            <a:ext cx="384048" cy="384048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51560" y="289864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Built, signed, installed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051560" y="326440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ordinary app: no privileged permissions, no system signing — a .hap a judge can install from the repo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858768"/>
            <a:ext cx="384048" cy="384048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051560" y="3831336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claim captured on a HarmonyOS 6.1.1 emulator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051560" y="419709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attach, rewrite, compose, PII withholding, offline fallback — screenshots in docs/evidence/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4791456"/>
            <a:ext cx="384048" cy="384048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773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051560" y="4764024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in a third-party app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051560" y="5129784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Huawei browser's own search field rewritten in 0.8 s — an app that knows nothing about Bridge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5806440"/>
            <a:ext cx="11274552" cy="685800"/>
          </a:xfrm>
          <a:prstGeom prst="roundRect">
            <a:avLst>
              <a:gd name="adj" fmla="val 10667"/>
            </a:avLst>
          </a:prstGeom>
          <a:solidFill>
            <a:srgbClr val="EEF3FB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5916168"/>
            <a:ext cx="10725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7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81-second demo video is assembled from twelve stills captured with the system snapshot tool and committed to the repository. </a:t>
            </a:r>
            <a:pPr indent="0" marL="0">
              <a:buNone/>
            </a:pPr>
            <a:r>
              <a:rPr lang="en-US" sz="1400" b="1" dirty="0">
                <a:solidFill>
                  <a:srgbClr val="1B4E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screen in it was drawn or simulated.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5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11247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however you can.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Bridge rewrites it.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35204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DB0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every text field on the device — because Bridge is a system component, not an app.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49377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523036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github.com/rafalohaki/harmonyy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389120" y="49377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INSTALLABLE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389120" y="523036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dist/bridge-1.0.0-signed.hap — build with scripts/dev-loop.sh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321040" y="49377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VIDEO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321040" y="523036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demo/out/bridge-demo.mp4 — 81 s, committed in the repo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63093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0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HackYeah 2026 · OpenHarmony / HarmonyOS Challenge · API 20+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Bridge — a system keyboard that gives people a voice</dc:title>
  <dc:subject>PptxGenJS Presentation</dc:subject>
  <dc:creator>Bridge HackYeah Team</dc:creator>
  <cp:lastModifiedBy>Bridge HackYeah Team</cp:lastModifiedBy>
  <cp:revision>1</cp:revision>
  <dcterms:created xsi:type="dcterms:W3CDTF">2026-10-03T20:16:09Z</dcterms:created>
  <dcterms:modified xsi:type="dcterms:W3CDTF">2026-10-03T20:16:09Z</dcterms:modified>
</cp:coreProperties>
</file>